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02920" y="694944"/>
            <a:ext cx="11183112" cy="4800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749808"/>
            <a:ext cx="1417320" cy="56692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RP-08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804672"/>
            <a:ext cx="110642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1B4F72"/>
                </a:solidFill>
                <a:latin typeface="Calibri"/>
              </a:rPr>
              <a:t>Automatisation de l'Infrastructure
IRIS Nice avec Ansible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0" y="2304288"/>
            <a:ext cx="7616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441448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7F8C8D"/>
                </a:solidFill>
                <a:latin typeface="Calibri"/>
              </a:rPr>
              <a:t>Concevoir et déployer des solutions d'automatisation d'une infrastructure existante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21868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4F72"/>
                </a:solidFill>
                <a:latin typeface="Calibri"/>
              </a:rPr>
              <a:t>ANDREO Vincent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67328"/>
            <a:ext cx="11064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 i="0">
                <a:solidFill>
                  <a:srgbClr val="7F8C8D"/>
                </a:solidFill>
                <a:latin typeface="Calibri"/>
              </a:rPr>
              <a:t>BTS SIO SISR  |  IRIS Nice (Mediaschool)  |  Mars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4407408"/>
            <a:ext cx="3044952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Duree : 10 minutes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  <a:latin typeface="Calibri"/>
              </a:rPr>
              <a:t>ANDREO Vincent  |  BTS SIO SISR  |  IRIS Nice (Mediaschool)  |  Mars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64240" y="6400800"/>
            <a:ext cx="914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1 / 15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Contexte — Infrastructure IRIS Nice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2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539496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Infrastructure en place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1389888"/>
            <a:ext cx="5303520" cy="2606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SRV-KVM — 192.168.40.2  (Hyperviseur KVM/QEMU)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SRV-DC01 — 192.168.40.5  (Windows Server AD, mediaschool.lan)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pfSense — 192.168.40.3  (Pare-feu &amp; routage inter-VLANs)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4 x Switches Cisco IOS  (acces &amp; distribution)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Stack : Prometheus / Grafana / Loki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15 etudiants SISR a configurer chaque rentree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4096512"/>
            <a:ext cx="5394960" cy="34747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VLANs configures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4517136"/>
            <a:ext cx="969264" cy="73152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VLAN 10
Admin</a:t>
            </a:r>
          </a:p>
        </p:txBody>
      </p:sp>
      <p:sp>
        <p:nvSpPr>
          <p:cNvPr id="10" name="Rectangle 9"/>
          <p:cNvSpPr/>
          <p:nvPr/>
        </p:nvSpPr>
        <p:spPr>
          <a:xfrm>
            <a:off x="1344168" y="4517136"/>
            <a:ext cx="969264" cy="7315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VLAN 20
Profs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368296" y="4517136"/>
            <a:ext cx="969264" cy="73152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VLAN 30
Etud.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392424" y="4517136"/>
            <a:ext cx="969264" cy="731520"/>
          </a:xfrm>
          <a:prstGeom prst="rect">
            <a:avLst/>
          </a:prstGeom>
          <a:solidFill>
            <a:srgbClr val="21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VLAN 40
Srv.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16552" y="4517136"/>
            <a:ext cx="969264" cy="73152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VLAN 50
Mgmt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932688"/>
            <a:ext cx="5943600" cy="38404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Problematique actuelle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89320" y="1389888"/>
            <a:ext cx="5852160" cy="2788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C02020"/>
                </a:solidFill>
                <a:latin typeface="Calibri"/>
              </a:rPr>
              <a:t>  &gt;  Comptes AD crees manuellement (erreurs, perte de temps)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02020"/>
                </a:solidFill>
                <a:latin typeface="Calibri"/>
              </a:rPr>
              <a:t>  &gt;  Deploiement VMs non reproductible et chronophage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02020"/>
                </a:solidFill>
                <a:latin typeface="Calibri"/>
              </a:rPr>
              <a:t>  &gt;  Mises a jour non coordonnees -&gt; derives securite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02020"/>
                </a:solidFill>
                <a:latin typeface="Calibri"/>
              </a:rPr>
              <a:t>  &gt;  Aucun audit de conformite automatise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02020"/>
                </a:solidFill>
                <a:latin typeface="Calibri"/>
              </a:rPr>
              <a:t>  &gt;  Configurations Cisco non verifiees regulierement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C02020"/>
                </a:solidFill>
                <a:latin typeface="Calibri"/>
              </a:rPr>
              <a:t>  &gt;  Pas de supervision centralisee automatique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4297680"/>
            <a:ext cx="594360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Solution : Projet iris-ansible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4809744"/>
            <a:ext cx="59436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Automatiser toutes les taches repetitives avec Ansible 2.15+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ANDREO Vincent  |  BTS SIO SISR  |  IRIS Nice (Mediaschool)  |  Mars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Mission &amp; Objectifs — Projet iris-ansible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3 / 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914400"/>
            <a:ext cx="1164031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1B4F72"/>
                </a:solidFill>
                <a:latin typeface="Calibri"/>
              </a:rPr>
              <a:t>Automatiser l'infrastructure IRIS Nice de A a Z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71600"/>
            <a:ext cx="45720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Rectangle 7"/>
          <p:cNvSpPr/>
          <p:nvPr/>
        </p:nvSpPr>
        <p:spPr>
          <a:xfrm>
            <a:off x="868680" y="1371600"/>
            <a:ext cx="3291840" cy="45720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Rentree Scolaire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901952"/>
            <a:ext cx="3794760" cy="12801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47672"/>
            <a:ext cx="3611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Lecture CSV -&gt; Comptes AD
+ 30 VMs KVM en ~20 min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97680" y="1371600"/>
            <a:ext cx="45720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800600" y="1371600"/>
            <a:ext cx="3291840" cy="4572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Patch Management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97680" y="1901952"/>
            <a:ext cx="3794760" cy="12801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947672"/>
            <a:ext cx="3611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Snapshots KVM -&gt; MAJ Linux
+ Windows -&gt; Rapports auto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0" y="1371600"/>
            <a:ext cx="45720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32520" y="1371600"/>
            <a:ext cx="3291840" cy="4572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Audit de Conformite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901952"/>
            <a:ext cx="3794760" cy="12801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0" y="1947672"/>
            <a:ext cx="36118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Verif Linux / Windows / Cisco
Rapports YAML horodates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337560"/>
            <a:ext cx="1143000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Livrables du projet iris-ansible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785615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rentree-scolaire.yml     — Integration complete rentree (AD + KVM)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patch-management.yml   — MAJ coordonnees Linux + Windows + rapports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conformite.yml              — Audit Linux / Windows Server / Cisco IOS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Roles Ansible reutilisables : kvm_deploy, ad_user, cisco_audit, monitoring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Inventaire hierarchique : inventories/production/, group_vars/, host_vars/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ANDREO Vincent  |  BTS SIO SISR  |  IRIS Nice (Mediaschool)  |  Mars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Architecture Ansible — Controleur &amp; Cibles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0" y="960120"/>
            <a:ext cx="3931920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CONTROLEUR ANSIBLE
SRV-KVM  |  192.168.40.2</a:t>
            </a:r>
          </a:p>
        </p:txBody>
      </p:sp>
      <p:sp>
        <p:nvSpPr>
          <p:cNvPr id="7" name="Rectangle 6"/>
          <p:cNvSpPr/>
          <p:nvPr/>
        </p:nvSpPr>
        <p:spPr>
          <a:xfrm>
            <a:off x="4206240" y="2487168"/>
            <a:ext cx="3749039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0" y="3328416"/>
            <a:ext cx="3749039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06240" y="4151376"/>
            <a:ext cx="3749039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06240" y="4974336"/>
            <a:ext cx="3749039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4320" y="2267712"/>
            <a:ext cx="3657600" cy="402336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Linux / KVM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68833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SSH port 22
community.libvirt + ansible.posix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3090672"/>
            <a:ext cx="3657600" cy="40233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Windows AD DC01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51129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WinRM port 5985
community.windows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913632"/>
            <a:ext cx="3657600" cy="402336"/>
          </a:xfrm>
          <a:prstGeom prst="rect">
            <a:avLst/>
          </a:prstGeom>
          <a:solidFill>
            <a:srgbClr val="21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Cisco IOS Switches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433425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network_cli / SSH
cisco.ios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4736592"/>
            <a:ext cx="3657600" cy="402336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pfSense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5157216"/>
            <a:ext cx="35661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SSH / REST API
community.general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321040" y="960120"/>
            <a:ext cx="356616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Collections Ansible Galaxy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321040" y="1417320"/>
            <a:ext cx="3566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community.general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321040" y="1892808"/>
            <a:ext cx="3566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community.windows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321040" y="2368296"/>
            <a:ext cx="3566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cisco.ios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321040" y="2843784"/>
            <a:ext cx="3566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community.libvirt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3319272"/>
            <a:ext cx="356616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ansible.posix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321040" y="3794760"/>
            <a:ext cx="3566160" cy="4114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0">
                <a:solidFill>
                  <a:srgbClr val="2C3E50"/>
                </a:solidFill>
                <a:latin typeface="Calibri"/>
              </a:rPr>
              <a:t>community.docker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114800" y="3657600"/>
            <a:ext cx="393192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Inventaire hierarchique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14800" y="4069080"/>
            <a:ext cx="3931920" cy="138988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224528" y="4142232"/>
            <a:ext cx="37490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FF78"/>
                </a:solidFill>
                <a:latin typeface="Courier New"/>
              </a:rPr>
              <a:t>inventories/production/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hosts.ini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group_vars/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all.yml  linux.yml  windows.yml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host_vars/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srv-dc01.yml  srv-kvm.yml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114800" y="5532120"/>
            <a:ext cx="3931920" cy="36576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ansible-vault AES-256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ANDREO Vincent  |  BTS SIO SISR  |  IRIS Nice (Mediaschool)  |  Mars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Playbook : rentree-scolaire.yml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5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1828800" cy="77724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Lecture CSV
etudiants-2026.csv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30551" y="114300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  <a:latin typeface="Calibri"/>
              </a:rPr>
              <a:t>&gt;</a:t>
            </a:r>
          </a:p>
        </p:txBody>
      </p:sp>
      <p:sp>
        <p:nvSpPr>
          <p:cNvPr id="8" name="Rectangle 7"/>
          <p:cNvSpPr/>
          <p:nvPr/>
        </p:nvSpPr>
        <p:spPr>
          <a:xfrm>
            <a:off x="2249424" y="960120"/>
            <a:ext cx="1828800" cy="77724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Creation OUs
Groupes 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05656" y="114300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  <a:latin typeface="Calibri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24528" y="960120"/>
            <a:ext cx="18288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30 Comptes AD
(users + mdp)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080760" y="114300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  <a:latin typeface="Calibri"/>
              </a:rPr>
              <a:t>&gt;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99632" y="960120"/>
            <a:ext cx="1828800" cy="777240"/>
          </a:xfrm>
          <a:prstGeom prst="rect">
            <a:avLst/>
          </a:prstGeom>
          <a:solidFill>
            <a:srgbClr val="21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15 VMs Windows
(linked clone)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55864" y="114300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  <a:latin typeface="Calibri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74736" y="960120"/>
            <a:ext cx="1828800" cy="77724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15 VMs Debian
(linked clone)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30968" y="1143000"/>
            <a:ext cx="1828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E67E22"/>
                </a:solidFill>
                <a:latin typeface="Calibri"/>
              </a:rPr>
              <a:t>&gt;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149840" y="960120"/>
            <a:ext cx="1828800" cy="7772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Rapport
Execution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920240"/>
            <a:ext cx="548640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Extrait : etudiants-2026.csv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4320" y="2350008"/>
            <a:ext cx="5486400" cy="11887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84048" y="2423160"/>
            <a:ext cx="5303520" cy="10789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FF78"/>
                </a:solidFill>
                <a:latin typeface="Courier New"/>
              </a:rPr>
              <a:t>nom,prenom,classe,password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MARTIN,Jean,SISR1,P@ss2026!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DUPONT,Marie,SISR2,P@ss2026!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GARCIA,Lucas,SISR1,P@ss2026!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... (30 lignes total)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1920240"/>
            <a:ext cx="594360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Extrait : rentree-scolaire.yml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350008"/>
            <a:ext cx="5943600" cy="2926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53328" y="2423160"/>
            <a:ext cx="5760720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8FF78"/>
                </a:solidFill>
                <a:latin typeface="Courier New"/>
              </a:rPr>
              <a:t>- name: Creer comptes AD depuis CSV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hosts: dc01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vars_files: [ vault.yml ]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tasks: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- community.general.read_csv: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  path: etudiants-2026.csv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register: etudiants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- community.windows.win_domain_ou: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  name: '{{ item.classe }}'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  path: DC=mediaschool,DC=lan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loop: '{{ classes | unique }}'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- community.windows.win_domain_user: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  name: '{{ item.prenom }}.{{ item.nom }}'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  password: '{{ item.password }}'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  ou: OU={{ item.classe }},DC=mediaschool,DC=lan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loop: '{{ etudiants.list }}'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657600"/>
            <a:ext cx="548640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Deploiement VMs KVM — community.libvirt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0040" y="4096512"/>
            <a:ext cx="53492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Linked clones depuis template (Win 10 + Debian 12)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VLAN 30 Etudiants attribue automatiquement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Hostname : ws-sisr-01 a ws-sisr-30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5321808"/>
            <a:ext cx="11612880" cy="438912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Resultat : 30 comptes AD + 30 VMs en ~20 minutes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ANDREO Vincent  |  BTS SIO SISR  |  IRIS Nice (Mediaschool)  |  Mars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Demonstration — Execution rentree-scolaire.yml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6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161288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Commande d'execution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62456"/>
            <a:ext cx="11612880" cy="6858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35608"/>
            <a:ext cx="11430000" cy="5760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>
                <a:solidFill>
                  <a:srgbClr val="A8FF78"/>
                </a:solidFill>
                <a:latin typeface="Courier New"/>
              </a:rPr>
              <a:t>$ ansible-playbook rentree-scolaire.yml \</a:t>
            </a:r>
          </a:p>
          <a:p>
            <a:r>
              <a:rPr sz="1300">
                <a:solidFill>
                  <a:srgbClr val="A8FF78"/>
                </a:solidFill>
                <a:latin typeface="Courier New"/>
              </a:rPr>
              <a:t>      -i inventories/production/ \</a:t>
            </a:r>
          </a:p>
          <a:p>
            <a:r>
              <a:rPr sz="1300">
                <a:solidFill>
                  <a:srgbClr val="A8FF78"/>
                </a:solidFill>
                <a:latin typeface="Courier New"/>
              </a:rPr>
              <a:t>      --vault-password-file .vault_pass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157984"/>
            <a:ext cx="1161288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Sortie Ansible (résumé d'exécution)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78608"/>
            <a:ext cx="11612880" cy="30632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2651760"/>
            <a:ext cx="11430000" cy="29535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8FF78"/>
                </a:solidFill>
                <a:latin typeface="Courier New"/>
              </a:rPr>
              <a:t>PLAY [Lecture CSV et validation] ******************************************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TASK [Lire etudiants-2026.csv] ............... ok: [localhost]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TASK [Valider les champs obligatoires] ....... ok: [localhost] (30 items)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PLAY [Creation comptes Active Directory] **********************************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TASK [Creer les OUs par classe] .............. changed: [srv-dc01] (2 items)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TASK [Creer les groupes] ..................... changed: [srv-dc01] (2 items)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TASK [Creer les comptes utilisateurs AD] ..... changed: [srv-dc01] (30 items)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PLAY [Deploiement machines virtuelles KVM] ********************************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TASK [Creer VMs Windows linked clone] ........ changed: [srv-kvm] (15 items)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TASK [Creer VMs Debian linked clone] ......... changed: [srv-kvm] (15 items)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TASK [Configurer reseau VLAN 30] ............. changed: [srv-kvm] (30 items)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PLAY RECAP ****************************************************************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localhost  : ok=2   changed=0   failed=0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srv-dc01   : ok=4   changed=4   failed=0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srv-kvm    : ok=5   changed=3   failed=0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5760720"/>
            <a:ext cx="137160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" y="63459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Comptes AD
crees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0" y="5760720"/>
            <a:ext cx="1371600" cy="56692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63459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VMs KVM
deployees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5760720"/>
            <a:ext cx="1371600" cy="56692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~20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63459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Minutes
(vs 2h manuel)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052560" y="5760720"/>
            <a:ext cx="1371600" cy="56692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4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52560" y="6345936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C3E50"/>
                </a:solidFill>
                <a:latin typeface="Calibri"/>
              </a:rPr>
              <a:t>Erreurs
de saisie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ANDREO Vincent  |  BTS SIO SISR  |  IRIS Nice (Mediaschool)  |  Mars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Securite — Ansible Vault &amp; Gestion des Secrets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7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11612880" cy="38404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Probleme : gestion securisee des credentials (AD, Cisco, pfSense, Prometheus)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356616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Secrets geres par Vault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65376"/>
            <a:ext cx="3566160" cy="6949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Mot de passe AD
Administrateur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633472"/>
            <a:ext cx="3566160" cy="6949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Credentials Cisco
Enable / SSH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401568"/>
            <a:ext cx="3566160" cy="6949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pfSense API key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4169664"/>
            <a:ext cx="3566160" cy="6949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Comptes locaux
serveurs Linux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4937760"/>
            <a:ext cx="3566160" cy="694944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Token Prometheus
&amp; Grafana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23360" y="1417320"/>
            <a:ext cx="411480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vault.yml chiffre AES-256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23360" y="1865376"/>
            <a:ext cx="4114800" cy="2560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33088" y="1938528"/>
            <a:ext cx="3931920" cy="2450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FF78"/>
                </a:solidFill>
                <a:latin typeface="Courier New"/>
              </a:rPr>
              <a:t># vault.yml (CHIFFRE AES-256)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$ANSIBLE_VAULT;1.1;AES256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66386439643035313765316533...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# Contenu apres dechiffrement :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vault_ad_password: "S3cur3P@ss!"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vault_cisco_enable: "CiscoEnable2026"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vault_pfsense_key: "apikey-abc123"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vault_prometheus_token: "Bearer ..."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vault_grafana_pass: "Grafana2026!"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321040" y="1417320"/>
            <a:ext cx="356616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Commandes Ansible Vault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321040" y="1865376"/>
            <a:ext cx="3566160" cy="256032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30768" y="1938528"/>
            <a:ext cx="3383280" cy="2450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FF78"/>
                </a:solidFill>
                <a:latin typeface="Courier New"/>
              </a:rPr>
              <a:t># Chiffrer le fichier vault :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ansible-vault encrypt vault.yml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# Modifier les secrets :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ansible-vault edit vault.yml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# Lancer un playbook :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ansible-playbook site.yml \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--vault-password-file .vault_pass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# Rotation des cles :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ansible-vault rekey vault.yml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572000"/>
            <a:ext cx="1161288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Bonnes pratiques appliquees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5029200"/>
            <a:ext cx="11430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vault.yml chiffre AES-256 — jamais committe en clair dans Git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.vault_pass dans .gitignore — hors depot Git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Separation group_vars/all.yml (public) et vault.yml (prive)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Rotation automatique des mots de passe via playbook dedie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ANDREO Vincent  |  BTS SIO SISR  |  IRIS Nice (Mediaschool)  |  Mars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Playbook : patch-management.yml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8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60120"/>
            <a:ext cx="210312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1 — SNAPSHOT KVM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36776"/>
            <a:ext cx="2103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682496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Backup preventif
toutes VMs Linux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404872" y="1143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7E22"/>
                </a:solidFill>
                <a:latin typeface="Calibri"/>
              </a:rPr>
              <a:t>&gt;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960120"/>
            <a:ext cx="210312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2 — APT Linux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1636776"/>
            <a:ext cx="2103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0" y="1682496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apt dist-upgrade
+ reboot si kernel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82312" y="1143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7E22"/>
                </a:solidFill>
                <a:latin typeface="Calibri"/>
              </a:rPr>
              <a:t>&gt;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0" y="960120"/>
            <a:ext cx="2103120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— Win Updates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0" y="1636776"/>
            <a:ext cx="2103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20640" y="1682496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DC01 : Windows
Update + reboot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59752" y="1143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7E22"/>
                </a:solidFill>
                <a:latin typeface="Calibri"/>
              </a:rPr>
              <a:t>&gt;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406640" y="960120"/>
            <a:ext cx="2103120" cy="65836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4 — VERIF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1636776"/>
            <a:ext cx="2103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98080" y="1682496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Services OK ?
Ping AD / DNS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1143000"/>
            <a:ext cx="18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E67E22"/>
                </a:solidFill>
                <a:latin typeface="Calibri"/>
              </a:rPr>
              <a:t>&gt;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784080" y="960120"/>
            <a:ext cx="210312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5 — RAPPORT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784080" y="1636776"/>
            <a:ext cx="2103120" cy="91440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875520" y="1682496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YAML horodate
+ notif admin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2743200"/>
            <a:ext cx="5486400" cy="3657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Snapshot KVM preventif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172968"/>
            <a:ext cx="5486400" cy="2926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4048" y="3246120"/>
            <a:ext cx="5303520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8FF78"/>
                </a:solidFill>
                <a:latin typeface="Courier New"/>
              </a:rPr>
              <a:t>- name: Snapshot preventif VMs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community.libvirt.virt: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command: snapshot_create_xml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name: '{{ item }}'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xml: |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&lt;domainsnapshot&gt;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  &lt;name&gt;pre-patch-{{ ansible_date_time.date }}&lt;/name&gt;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&lt;/domainsnapshot&gt;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loop: '{{ vms_list }}'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- name: apt dist-upgrade Debian/Ubuntu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ansible.builtin.apt: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upgrade: dist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update_cache: true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register: apt_result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- name: Reboot si nouveau kernel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ansible.builtin.reboot: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when: apt_result.changed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943600" y="2743200"/>
            <a:ext cx="5943600" cy="3657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Rapport genere : patch_report_YYYY-MM-DD.yml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3172968"/>
            <a:ext cx="5943600" cy="292608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53328" y="3246120"/>
            <a:ext cx="5760720" cy="28163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8FF78"/>
                </a:solidFill>
                <a:latin typeface="Courier New"/>
              </a:rPr>
              <a:t># patch_report_2026-03-01.yml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date: '2026-03-01'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hosts_patched: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- host: srv-web01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packages_updated: 42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kernel_reboot: true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duration_sec: 187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status: SUCCESS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- host: srv-dc01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windows_updates: 8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reboot_required: true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duration_sec: 312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status: SUCCESS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snapshots_created: 12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total_duration: '00:14:22'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errors: []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notified_admin: admin@iris-nice.fr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ANDREO Vincent  |  BTS SIO SISR  |  IRIS Nice (Mediaschool)  |  Mars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Playbook : conformite.yml — Audit de Conformite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9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365760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Linux (Debian/Ubuntu)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SSH : PasswordAuthentication=no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92808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UFW : ports 22 / 80 / 443 seulement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68296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Utilisateurs sudo non autorises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843784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Services inutiles desactives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319272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Correctifs securite disponibles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932688"/>
            <a:ext cx="365760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Windows Server 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51959" y="1417320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GPOs appliquees (12 politiques)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892808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Audit logs actives (securite/systeme)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251959" y="2368296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Password policy conforme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2843784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Services AD/DNS/DHCP actifs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51959" y="3319272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Windows Defender actif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932688"/>
            <a:ext cx="3657600" cy="411480"/>
          </a:xfrm>
          <a:prstGeom prst="rect">
            <a:avLst/>
          </a:prstGeom>
          <a:solidFill>
            <a:srgbClr val="21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Cisco IOS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0" y="1417320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VLANs 10/20/30/40/50 configures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892808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Spanning-tree RSTP actif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229600" y="2368296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Acces management SSH uniquement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2843784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ACLs conformes a la politique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229600" y="3319272"/>
            <a:ext cx="3657600" cy="41148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0">
                <a:solidFill>
                  <a:srgbClr val="2C3E50"/>
                </a:solidFill>
                <a:latin typeface="Calibri"/>
              </a:rPr>
              <a:t>OK  NTP synchronise (192.168.40.2)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904487"/>
            <a:ext cx="1161288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Extrait conformite.yml — verification Cisco IOS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4334256"/>
            <a:ext cx="6309360" cy="2194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84048" y="4407408"/>
            <a:ext cx="6126480" cy="2084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8FF78"/>
                </a:solidFill>
                <a:latin typeface="Courier New"/>
              </a:rPr>
              <a:t>- name: Verifier configuration VLAN Cisco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cisco.ios.ios_vlans: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config: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- { vlan_id: 10, name: Admin }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- { vlan_id: 20, name: Profs }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- { vlan_id: 30, name: Etudiants }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- { vlan_id: 40, name: Serveurs }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- { vlan_id: 50, name: Management }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state: gathered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register: vlan_config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/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- name: Generer rapport YAML horodate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ansible.builtin.template: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src: conformite_report.j2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dest: /reports/conformite_{{ ansible_date_time.iso8601 }}.yml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delegate_to: localhost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766560" y="4334256"/>
            <a:ext cx="5394960" cy="21945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76288" y="4407408"/>
            <a:ext cx="5212080" cy="20848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A8FF78"/>
                </a:solidFill>
                <a:latin typeface="Courier New"/>
              </a:rPr>
              <a:t># conformite_2026-03-01T09:00:00.yml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linux: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hosts_checked: 8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compliant: 7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non_compliant: 1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issues: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- host: srv-web02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rule: UFW_ports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expected: [22, 80, 443]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    found: [22, 80, 443, 8080]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windows: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dc01_compliant: true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gpo_applied: 12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cisco: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switches_checked: 4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vlans_ok: true</a:t>
            </a:r>
          </a:p>
          <a:p>
            <a:r>
              <a:rPr sz="900">
                <a:solidFill>
                  <a:srgbClr val="A8FF78"/>
                </a:solidFill>
                <a:latin typeface="Courier New"/>
              </a:rPr>
              <a:t>  acls_ok: true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ANDREO Vincent  |  BTS SIO SISR  |  IRIS Nice (Mediaschool)  |  Mars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Supervision Automatisee — Stack Prometheus/Grafana/Loki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10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14400"/>
            <a:ext cx="1161288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Deploiement de la stack de supervision complete via Ansible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606040" cy="411480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Prometheus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4708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Metriques
systeme &amp; reseau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417320"/>
            <a:ext cx="2606040" cy="41148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Grafana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184708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Dashboards
visuels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26480" y="1417320"/>
            <a:ext cx="26060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Loki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26480" y="184708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Agregation
des logs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417320"/>
            <a:ext cx="2606040" cy="4114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Node Exporter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52560" y="184708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Metriques
hosts Linux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834640"/>
            <a:ext cx="2606040" cy="411480"/>
          </a:xfrm>
          <a:prstGeom prst="rect">
            <a:avLst/>
          </a:prstGeom>
          <a:solidFill>
            <a:srgbClr val="21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Windows Exporter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326440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Metriques
Windows DC01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0" y="2834640"/>
            <a:ext cx="2606040" cy="411480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Alertmanager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0" y="326440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Alertes email
&amp; Slack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834640"/>
            <a:ext cx="2606040" cy="41148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cAdvisor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26480" y="326440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Metriques
conteneurs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052560" y="2834640"/>
            <a:ext cx="2606040" cy="41148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Nginx Proxy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52560" y="3264408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Reverse proxy
HTTPS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4462272"/>
            <a:ext cx="1161288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Extrait : deploiement Docker Compose via Ansible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892040"/>
            <a:ext cx="5943600" cy="1481328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4048" y="4965192"/>
            <a:ext cx="5760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FF78"/>
                </a:solidFill>
                <a:latin typeface="Courier New"/>
              </a:rPr>
              <a:t>- name: Deployer la stack monitoring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community.docker.docker_compose_v2: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project_src: /opt/monitoring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state: present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vars: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prometheus_retention: '30d'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    grafana_admin_password: '{{ vault_grafana_pass }}'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0" y="4462272"/>
            <a:ext cx="5486400" cy="3657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Resultats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4892040"/>
            <a:ext cx="5486400" cy="1481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8 services Docker deployes en 1 commande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Dashboards Grafana pre-configures (Linux/Windows/Cisco)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Alertes mail admin si service DOWN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Logs centralises Loki (retention 30 jours)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2C3E50"/>
                </a:solidFill>
                <a:latin typeface="Calibri"/>
              </a:rPr>
              <a:t>  &gt;  HTTPS via Nginx reverse proxy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ANDREO Vincent  |  BTS SIO SISR  |  IRIS Nice (Mediaschool)  |  Mars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Idempotence &amp; Qualite des Playbooks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11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161288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Principe fondamental Ansible : l'idempotence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1389888"/>
            <a:ext cx="11612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2C3E50"/>
                </a:solidFill>
                <a:latin typeface="Calibri"/>
              </a:rPr>
              <a:t>Un playbook execute N fois produit le meme resultat que s'il avait ete execute une seule fois.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901952"/>
            <a:ext cx="548640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1ere execution — changed=X  (etat initial modifie)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350008"/>
            <a:ext cx="5486400" cy="914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" y="2423160"/>
            <a:ext cx="530352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FF78"/>
                </a:solidFill>
                <a:latin typeface="Courier New"/>
              </a:rPr>
              <a:t>PLAY RECAP *********************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srv-dc01 : ok=8  changed=4  failed=0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srv-kvm  : ok=12 changed=7  failed=0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sw-01    : ok=6  changed=3  failed=0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1901952"/>
            <a:ext cx="566928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2eme execution — changed=0  OK (idempotent)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2350008"/>
            <a:ext cx="5669280" cy="9144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27648" y="2423160"/>
            <a:ext cx="5486400" cy="80467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A8FF78"/>
                </a:solidFill>
                <a:latin typeface="Courier New"/>
              </a:rPr>
              <a:t>PLAY RECAP *********************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srv-dc01 : ok=8  changed=0  failed=0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srv-kvm  : ok=12 changed=0  failed=0</a:t>
            </a:r>
          </a:p>
          <a:p>
            <a:r>
              <a:rPr sz="1100">
                <a:solidFill>
                  <a:srgbClr val="A8FF78"/>
                </a:solidFill>
                <a:latin typeface="Courier New"/>
              </a:rPr>
              <a:t>sw-01    : ok=6  changed=0  failed=0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401568"/>
            <a:ext cx="1161288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Outils Qualite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3858768"/>
            <a:ext cx="2743200" cy="47548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ansible-lint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361688"/>
            <a:ext cx="2743200" cy="80467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5760" y="4407408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Analyse statique
des playbooks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0" y="3858768"/>
            <a:ext cx="2743200" cy="47548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--check --diff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4361688"/>
            <a:ext cx="2743200" cy="80467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4407408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Dry-run :
simule sans appliquer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3858768"/>
            <a:ext cx="2743200" cy="47548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molecule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4361688"/>
            <a:ext cx="2743200" cy="80467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17920" y="4407408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Tests unitaires
des roles Ansible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3858768"/>
            <a:ext cx="2743200" cy="475488"/>
          </a:xfrm>
          <a:prstGeom prst="rect">
            <a:avLst/>
          </a:prstGeom>
          <a:solidFill>
            <a:srgbClr val="21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yamllint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4361688"/>
            <a:ext cx="2743200" cy="804672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0" y="4407408"/>
            <a:ext cx="256032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2C3E50"/>
                </a:solidFill>
                <a:latin typeface="Calibri"/>
              </a:rPr>
              <a:t>Validation syntaxe
YAML stricte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5285232"/>
            <a:ext cx="11612880" cy="36576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Exemple : mode dry-run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74320" y="5715000"/>
            <a:ext cx="11612880" cy="54864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4048" y="5788152"/>
            <a:ext cx="1143000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A8FF78"/>
                </a:solidFill>
                <a:latin typeface="Courier New"/>
              </a:rPr>
              <a:t>$ ansible-playbook conformite.yml -i inventories/production/ \</a:t>
            </a:r>
          </a:p>
          <a:p>
            <a:r>
              <a:rPr sz="1200">
                <a:solidFill>
                  <a:srgbClr val="A8FF78"/>
                </a:solidFill>
                <a:latin typeface="Courier New"/>
              </a:rPr>
              <a:t>      --check --diff --vault-password-file .vault_pass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ANDREO Vincent  |  BTS SIO SISR  |  IRIS Nice (Mediaschool)  |  Mars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Resultats Mesurables — Impact de l'Automatisation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12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161288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Comparatif : Avant (Manuel) vs Apres (Ansible)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315468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Indicateur</a:t>
            </a:r>
          </a:p>
        </p:txBody>
      </p:sp>
      <p:sp>
        <p:nvSpPr>
          <p:cNvPr id="8" name="Rectangle 7"/>
          <p:cNvSpPr/>
          <p:nvPr/>
        </p:nvSpPr>
        <p:spPr>
          <a:xfrm>
            <a:off x="3493008" y="1417320"/>
            <a:ext cx="251460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Avant (Manuel)</a:t>
            </a:r>
          </a:p>
        </p:txBody>
      </p:sp>
      <p:sp>
        <p:nvSpPr>
          <p:cNvPr id="9" name="Rectangle 8"/>
          <p:cNvSpPr/>
          <p:nvPr/>
        </p:nvSpPr>
        <p:spPr>
          <a:xfrm>
            <a:off x="6071616" y="1417320"/>
            <a:ext cx="288036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Apres (Ansible)</a:t>
            </a:r>
          </a:p>
        </p:txBody>
      </p:sp>
      <p:sp>
        <p:nvSpPr>
          <p:cNvPr id="10" name="Rectangle 9"/>
          <p:cNvSpPr/>
          <p:nvPr/>
        </p:nvSpPr>
        <p:spPr>
          <a:xfrm>
            <a:off x="9015984" y="1417320"/>
            <a:ext cx="269748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Gain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1865376"/>
            <a:ext cx="315468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1892807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Rentree scolaire (30 etu.)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493008" y="1865376"/>
            <a:ext cx="251460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538727" y="1892807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2h — 2 personnes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71616" y="1865376"/>
            <a:ext cx="28803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17336" y="1892807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~20 min — automatique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015984" y="1865376"/>
            <a:ext cx="2697480" cy="438912"/>
          </a:xfrm>
          <a:prstGeom prst="rect">
            <a:avLst/>
          </a:prstGeom>
          <a:solidFill>
            <a:srgbClr val="D5F5E3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61704" y="1892807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- 85 % du temps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2368296"/>
            <a:ext cx="3154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39572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Deploiement 30 VMs KVM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493008" y="2368296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8727" y="239572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4-5h — manuel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071616" y="2368296"/>
            <a:ext cx="2880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117336" y="239572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~15 min — automatique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15984" y="2368296"/>
            <a:ext cx="2697480" cy="438912"/>
          </a:xfrm>
          <a:prstGeom prst="rect">
            <a:avLst/>
          </a:prstGeom>
          <a:solidFill>
            <a:srgbClr val="D5F5E3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61704" y="239572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- 95 % du temps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" y="2871216"/>
            <a:ext cx="315468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289864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MAJ Linux + Windows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493008" y="2871216"/>
            <a:ext cx="251460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538727" y="289864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~3h — manuelle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71616" y="2871216"/>
            <a:ext cx="28803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117336" y="289864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~45 min — planifiee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015984" y="2871216"/>
            <a:ext cx="2697480" cy="438912"/>
          </a:xfrm>
          <a:prstGeom prst="rect">
            <a:avLst/>
          </a:prstGeom>
          <a:solidFill>
            <a:srgbClr val="D5F5E3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61704" y="289864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- 75 % du temps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74320" y="3374136"/>
            <a:ext cx="3154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320040" y="340156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Audit de conformite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493008" y="3374136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3538727" y="340156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Non fait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071616" y="3374136"/>
            <a:ext cx="2880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117336" y="340156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~10 min — automatise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015984" y="3374136"/>
            <a:ext cx="2697480" cy="438912"/>
          </a:xfrm>
          <a:prstGeom prst="rect">
            <a:avLst/>
          </a:prstGeom>
          <a:solidFill>
            <a:srgbClr val="D5F5E3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061704" y="340156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Nouveau process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274320" y="3877056"/>
            <a:ext cx="315468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20040" y="3904487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Erreurs de config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93008" y="3877056"/>
            <a:ext cx="251460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538727" y="3904487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Frequentes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071616" y="3877056"/>
            <a:ext cx="2880360" cy="438912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17336" y="3904487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0 (idempotent)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15984" y="3877056"/>
            <a:ext cx="2697480" cy="438912"/>
          </a:xfrm>
          <a:prstGeom prst="rect">
            <a:avLst/>
          </a:prstGeom>
          <a:solidFill>
            <a:srgbClr val="D5F5E3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61704" y="3904487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100% fiabilite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4379976"/>
            <a:ext cx="315468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20040" y="4407408"/>
            <a:ext cx="30632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Reproductibilite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493008" y="4379976"/>
            <a:ext cx="251460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3538727" y="4407408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Non garantie</a:t>
            </a:r>
          </a:p>
        </p:txBody>
      </p:sp>
      <p:sp>
        <p:nvSpPr>
          <p:cNvPr id="55" name="Rectangle 54"/>
          <p:cNvSpPr/>
          <p:nvPr/>
        </p:nvSpPr>
        <p:spPr>
          <a:xfrm>
            <a:off x="6071616" y="4379976"/>
            <a:ext cx="28803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117336" y="4407408"/>
            <a:ext cx="2788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100% reproductible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015984" y="4379976"/>
            <a:ext cx="2697480" cy="438912"/>
          </a:xfrm>
          <a:prstGeom prst="rect">
            <a:avLst/>
          </a:prstGeom>
          <a:solidFill>
            <a:srgbClr val="D5F5E3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061704" y="4407408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7AE60"/>
                </a:solidFill>
                <a:latin typeface="Calibri"/>
              </a:rPr>
              <a:t>Qualite maximale</a:t>
            </a:r>
          </a:p>
        </p:txBody>
      </p:sp>
      <p:sp>
        <p:nvSpPr>
          <p:cNvPr id="59" name="Rectangle 58"/>
          <p:cNvSpPr/>
          <p:nvPr/>
        </p:nvSpPr>
        <p:spPr>
          <a:xfrm>
            <a:off x="274320" y="5212080"/>
            <a:ext cx="274320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85%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74320" y="588873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Temps rentree
gagne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200400" y="5212080"/>
            <a:ext cx="2743200" cy="65836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200400" y="588873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Erreurs
de saisie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126480" y="5212080"/>
            <a:ext cx="2743200" cy="65836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100%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6126480" y="588873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Reproductible
&amp; idempotent</a:t>
            </a:r>
          </a:p>
        </p:txBody>
      </p:sp>
      <p:sp>
        <p:nvSpPr>
          <p:cNvPr id="65" name="Rectangle 64"/>
          <p:cNvSpPr/>
          <p:nvPr/>
        </p:nvSpPr>
        <p:spPr>
          <a:xfrm>
            <a:off x="9052560" y="5212080"/>
            <a:ext cx="2743200" cy="65836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052560" y="5888736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Playbooks pour
tout couvrir</a:t>
            </a:r>
          </a:p>
        </p:txBody>
      </p:sp>
      <p:sp>
        <p:nvSpPr>
          <p:cNvPr id="67" name="Rectangle 66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ANDREO Vincent  |  BTS SIO SISR  |  IRIS Nice (Mediaschool)  |  Mars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Structure du Projet — iris-ansible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13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548640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Arborescence iris-ansible/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389888"/>
            <a:ext cx="5394960" cy="516636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84048" y="1463040"/>
            <a:ext cx="5212080" cy="50566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A8FF78"/>
                </a:solidFill>
                <a:latin typeface="Courier New"/>
              </a:rPr>
              <a:t>iris-ansible/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├── inventories/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└── production/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    ├── hosts.ini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    ├── group_vars/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    │   ├── all.yml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    │   ├── linux.yml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    │   └── windows.yml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    └── host_vars/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        ├── srv-dc01.yml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        └── srv-kvm.yml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├── playbooks/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├── rentree-scolaire.yml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├── patch-management.yml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└── conformite.yml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├── roles/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├── kvm_deploy/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├── ad_user/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├── cisco_audit/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│   └── monitoring/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├── vault.yml  (chiffre AES-256)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├── ansible.cfg</a:t>
            </a:r>
          </a:p>
          <a:p>
            <a:r>
              <a:rPr sz="1000">
                <a:solidFill>
                  <a:srgbClr val="A8FF78"/>
                </a:solidFill>
                <a:latin typeface="Courier New"/>
              </a:rPr>
              <a:t>└── requirements.yml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0" y="932688"/>
            <a:ext cx="594360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Roles Ansible crees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417320"/>
            <a:ext cx="192024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kvm_deploy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55279" y="141732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Deploiement VMs KVM (linked clones, reseau, boot)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43600" y="2221992"/>
            <a:ext cx="192024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ad_user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221992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Gestion comptes AD (OUs, groupes, utilisateurs)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0" y="3026664"/>
            <a:ext cx="1920240" cy="384048"/>
          </a:xfrm>
          <a:prstGeom prst="rect">
            <a:avLst/>
          </a:prstGeom>
          <a:solidFill>
            <a:srgbClr val="21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cisco_audit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3026664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Audit Cisco IOS (VLANs, ACLs, STP, NTP)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831336"/>
            <a:ext cx="19202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monitoring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55279" y="3831336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Stack Prometheus/Grafana (Docker Compose, config)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0" y="4636008"/>
            <a:ext cx="192024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patch_linux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4636008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MAJ Linux (apt, reboot si kernel, verification)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0" y="5440680"/>
            <a:ext cx="1920240" cy="38404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patch_windows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955279" y="5440680"/>
            <a:ext cx="3840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MAJ Windows (WinRM, update, reboot controle)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0" y="6263640"/>
            <a:ext cx="5943600" cy="347472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ansible.cfg — configuration du controleur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ANDREO Vincent  |  BTS SIO SISR  |  IRIS Nice (Mediaschool)  |  Mars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4980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749808"/>
            <a:ext cx="121889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91440"/>
            <a:ext cx="10332720" cy="6217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1" i="0">
                <a:solidFill>
                  <a:srgbClr val="FFFFFF"/>
                </a:solidFill>
                <a:latin typeface="Calibri"/>
              </a:rPr>
              <a:t>Bilan &amp; Competences Acquises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64240" y="164592"/>
            <a:ext cx="914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1" i="0">
                <a:solidFill>
                  <a:srgbClr val="FFFFFF"/>
                </a:solidFill>
                <a:latin typeface="Calibri"/>
              </a:rPr>
              <a:t>14 / 15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932688"/>
            <a:ext cx="1161288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Competences developpees au cours du projet iris-ansible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417320"/>
            <a:ext cx="2834640" cy="384048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Ansible Core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65376"/>
            <a:ext cx="2834640" cy="594360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901952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Ansible 2.15+ — playbooks avances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523744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256032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Roles (tasks, handlers, templates)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182112"/>
            <a:ext cx="2834640" cy="594360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0040" y="321868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Inventaire hierarchique &amp; group_vars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840480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3877056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Ansible Vault AES-256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498848"/>
            <a:ext cx="2834640" cy="594360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453542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ansible-lint &amp; --check --diff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1417320"/>
            <a:ext cx="28346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Systemes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1865376"/>
            <a:ext cx="2834640" cy="594360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1901952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WinRM / Windows AD (community.windows)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46120" y="2523744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91840" y="256032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KVM/libvirt (community.libvirt)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46120" y="3182112"/>
            <a:ext cx="2834640" cy="594360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291840" y="321868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Linux apt/systemd (ansible.posix)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46120" y="3840480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91840" y="3877056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win_domain_user / win_domain_ou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246120" y="4498848"/>
            <a:ext cx="2834640" cy="594360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91840" y="453542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Snapshots et gestion VMs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217920" y="1417320"/>
            <a:ext cx="2834640" cy="384048"/>
          </a:xfrm>
          <a:prstGeom prst="rect">
            <a:avLst/>
          </a:prstGeom>
          <a:solidFill>
            <a:srgbClr val="2161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Reseau &amp; Securite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217920" y="1865376"/>
            <a:ext cx="2834640" cy="594360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263640" y="1901952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Cisco IOS (cisco.ios modules)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17920" y="2523744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263640" y="256032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network_cli connection plugin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217920" y="3182112"/>
            <a:ext cx="2834640" cy="594360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321868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Gestion VLANs / ACLs via Ansible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217920" y="3840480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263640" y="3877056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pfSense automation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217920" y="4498848"/>
            <a:ext cx="2834640" cy="594360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63640" y="453542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Vault &amp; gestion des secrets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189720" y="1417320"/>
            <a:ext cx="2834640" cy="384048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Supervision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89720" y="1865376"/>
            <a:ext cx="2834640" cy="594360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235440" y="1901952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Docker Compose (community.docker)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189720" y="2523744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235440" y="2560320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Prometheus / Grafana / Loki</a:t>
            </a:r>
          </a:p>
        </p:txBody>
      </p:sp>
      <p:sp>
        <p:nvSpPr>
          <p:cNvPr id="45" name="Rectangle 44"/>
          <p:cNvSpPr/>
          <p:nvPr/>
        </p:nvSpPr>
        <p:spPr>
          <a:xfrm>
            <a:off x="9189720" y="3182112"/>
            <a:ext cx="2834640" cy="594360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235440" y="3218688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node_exporter / alertmanager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89720" y="3840480"/>
            <a:ext cx="283464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235440" y="3877056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Templates Jinja2 pour config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189720" y="4498848"/>
            <a:ext cx="2834640" cy="594360"/>
          </a:xfrm>
          <a:prstGeom prst="rect">
            <a:avLst/>
          </a:prstGeom>
          <a:solidFill>
            <a:srgbClr val="ECF0F1"/>
          </a:solidFill>
          <a:ln w="6350">
            <a:solidFill>
              <a:srgbClr val="ECF0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35440" y="4535424"/>
            <a:ext cx="274320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2C3E50"/>
                </a:solidFill>
                <a:latin typeface="Calibri"/>
              </a:rPr>
              <a:t>OK  Dashboards automatises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" y="5193792"/>
            <a:ext cx="11612880" cy="384048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Referentiel BTS SIO SISR — Competences couvertes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65760" y="5641848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1B4F72"/>
                </a:solidFill>
                <a:latin typeface="Calibri"/>
              </a:rPr>
              <a:t>  &gt;  B2.2 — Administrer et superviser les systemes et les reseaux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B4F72"/>
                </a:solidFill>
                <a:latin typeface="Calibri"/>
              </a:rPr>
              <a:t>  &gt;  B3.1 — Concevoir une solution d'infrastructure reseau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1B4F72"/>
                </a:solidFill>
                <a:latin typeface="Calibri"/>
              </a:rPr>
              <a:t>  &gt;  B3.2 — Installer, configurer et deployer une infrastructure existante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7F8C8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7F8C8D"/>
                </a:solidFill>
                <a:latin typeface="Calibri"/>
              </a:rPr>
              <a:t>ANDREO Vincent  |  BTS SIO SISR  |  IRIS Nice (Mediaschool)  |  Mars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F7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475488"/>
          </a:xfrm>
          <a:prstGeom prst="rect">
            <a:avLst/>
          </a:prstGeom>
          <a:solidFill>
            <a:srgbClr val="EE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75488"/>
            <a:ext cx="12188952" cy="54864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658368"/>
            <a:ext cx="11274552" cy="5074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731520"/>
            <a:ext cx="1127455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1B4F72"/>
                </a:solidFill>
                <a:latin typeface="Calibri"/>
              </a:rPr>
              <a:t>Conclusion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0" y="1298448"/>
            <a:ext cx="6702552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48640" y="1417320"/>
            <a:ext cx="3200400" cy="594360"/>
          </a:xfrm>
          <a:prstGeom prst="rect">
            <a:avLst/>
          </a:prstGeom>
          <a:solidFill>
            <a:srgbClr val="1B4F7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rentree-scolaire.yml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1417320"/>
            <a:ext cx="7680960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39" y="1481328"/>
            <a:ext cx="7452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-&gt;  CSV -&gt; 30 comptes AD + 30 VMs KVM en 20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2304288"/>
            <a:ext cx="3200400" cy="59436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patch-management.yml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840480" y="2304288"/>
            <a:ext cx="7680960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39" y="2368296"/>
            <a:ext cx="7452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-&gt;  Snapshots KVM -&gt; MAJ Linux/Windows -&gt; Rapports YAML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3191256"/>
            <a:ext cx="3200400" cy="59436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conformite.yml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191256"/>
            <a:ext cx="7680960" cy="594360"/>
          </a:xfrm>
          <a:prstGeom prst="rect">
            <a:avLst/>
          </a:prstGeom>
          <a:solidFill>
            <a:srgbClr val="ECF0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977639" y="3255264"/>
            <a:ext cx="745236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C3E50"/>
                </a:solidFill>
                <a:latin typeface="Calibri"/>
              </a:rPr>
              <a:t>-&gt;  Audit Linux / Windows AD / Cisco IOS -&gt; YAML horodate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105656"/>
            <a:ext cx="11274552" cy="36576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206240"/>
            <a:ext cx="11274552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1">
                <a:solidFill>
                  <a:srgbClr val="1B4F72"/>
                </a:solidFill>
                <a:latin typeface="Calibri"/>
              </a:rPr>
              <a:t>De l'infrastructure 100% manuelle a une automatisation complete et reproductible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4773168"/>
            <a:ext cx="26060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3 playbooks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17550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couverture infra totale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383280" y="4773168"/>
            <a:ext cx="26060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Vault AES-256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83280" y="517550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securite des secrets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17920" y="4773168"/>
            <a:ext cx="26060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Idempotent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0" y="517550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changed=0 au 2e passage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052560" y="4773168"/>
            <a:ext cx="2606040" cy="384048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Reproductible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5175504"/>
            <a:ext cx="2606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2C3E50"/>
                </a:solidFill>
                <a:latin typeface="Calibri"/>
              </a:rPr>
              <a:t>rentree en 20 min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56248"/>
            <a:ext cx="12188952" cy="18288"/>
          </a:xfrm>
          <a:prstGeom prst="rect">
            <a:avLst/>
          </a:prstGeom>
          <a:solidFill>
            <a:srgbClr val="3050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82880" y="6574536"/>
            <a:ext cx="11823192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AABBCC"/>
                </a:solidFill>
                <a:latin typeface="Calibri"/>
              </a:rPr>
              <a:t>ANDREO Vincent  |  BTS SIO SISR  |  IRIS Nice (Mediaschool)  |  Mars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00800"/>
            <a:ext cx="1005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AABBCC"/>
                </a:solidFill>
                <a:latin typeface="Calibri"/>
              </a:rPr>
              <a:t>15 / 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